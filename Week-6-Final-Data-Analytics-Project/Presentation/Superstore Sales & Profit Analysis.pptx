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037" y="3938587"/>
            <a:ext cx="3209925" cy="733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55651" y="2185987"/>
            <a:ext cx="808069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Inter"/>
              </a:rPr>
              <a:t>Superstore Sales &amp; Profit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8162" y="2928937"/>
            <a:ext cx="34956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2563EB"/>
                </a:solidFill>
                <a:latin typeface="Inter SemiBold"/>
              </a:rPr>
              <a:t>Final Data Analytics Project</a:t>
            </a:r>
            <a:r>
              <a:t>
</a:t>
            </a:r>
            <a:r>
              <a:rPr b="0" sz="1650" i="0" u="none">
                <a:solidFill>
                  <a:srgbClr val="2563EB"/>
                </a:solidFill>
                <a:latin typeface="Inter SemiBold"/>
              </a:rPr>
              <a:t> Internova Data Analysis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1562" y="4176712"/>
            <a:ext cx="24288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1E293B"/>
                </a:solidFill>
                <a:latin typeface="Inter SemiBold"/>
              </a:rPr>
              <a:t>Student Name: G Venkata 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1485900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End-to-end data analytics project using the Superstore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1895475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Analyze sales, profit, orders, customers, products, regions and discounts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305050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Perform data cleaning and exploratory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714625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Create meaningful data visualizations using Python (Matplotlib &amp; Seaborn)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124200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Build an interactive Power BI dashboard for executive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533775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Generate actionable business insights and strategic recommendations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3357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315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272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6230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7187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5400"/>
            <a:ext cx="11049000" cy="11668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50" y="1590675"/>
            <a:ext cx="10951368" cy="2286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Inter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1895475"/>
            <a:ext cx="10429875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1" u="none">
                <a:solidFill>
                  <a:srgbClr val="1E293B"/>
                </a:solidFill>
                <a:latin typeface="Inter Medium"/>
              </a:rPr>
              <a:t>"Businesses need to understand sales and profitability to make better decisions."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700337"/>
            <a:ext cx="11601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Project Objectives: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609725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3014662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Understand overall sales and profit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424237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Identify high- and low-performing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833812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Analyze regional and sub-category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243387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Study the relationship between discount and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4652962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Present findings through an interactive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5062537"/>
            <a:ext cx="1076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Provide data-driven recommendations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52762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2337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71912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81487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91062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00637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5400"/>
            <a:ext cx="5334000" cy="3400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95400"/>
            <a:ext cx="5334000" cy="3400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124200"/>
            <a:ext cx="4743450" cy="714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Dataset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775" y="1590675"/>
            <a:ext cx="49806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Inter"/>
              </a:rPr>
              <a:t>Dataset Metrics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6775" y="2057400"/>
          <a:ext cx="4733924" cy="234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29308"/>
                <a:gridCol w="2404616"/>
              </a:tblGrid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Dataset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Superstore Sales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Total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10,194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Total Columns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21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Missing Values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Duplicate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1775" y="2152650"/>
            <a:ext cx="49806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Inter"/>
              </a:rPr>
              <a:t>Key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524125"/>
            <a:ext cx="4743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Order ID, Order Date, Ship Date, Region, Category, Sub-Category, Product Name, Sales, Quantity, Discount,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267075"/>
            <a:ext cx="4457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334155"/>
                </a:solidFill>
                <a:latin typeface="Inter"/>
              </a:rPr>
              <a:t>"The dataset contains sales transactions across different customers, products, categories and regions."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585912"/>
            <a:ext cx="3416349" cy="116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899" y="1485900"/>
            <a:ext cx="3416349" cy="136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585912"/>
            <a:ext cx="3416349" cy="1162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28975"/>
            <a:ext cx="5334000" cy="1419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228975"/>
            <a:ext cx="5334000" cy="1419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Data Cleaning &amp; Preparation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1500" y="1785937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317" y="2109787"/>
            <a:ext cx="316711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Inter"/>
              </a:rPr>
              <a:t>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347912"/>
            <a:ext cx="3016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Inspected columns, data types &amp; missing values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0249" y="2071687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1700" y="1685925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12517" y="2009775"/>
            <a:ext cx="316711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Inter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924" y="2247900"/>
            <a:ext cx="30162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Checked duplicates, negative sales &amp; outliers (IQR)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0449" y="2071687"/>
            <a:ext cx="17145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0474" y="1785937"/>
            <a:ext cx="1714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52716" y="2109787"/>
            <a:ext cx="316711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Inter"/>
              </a:rPr>
              <a:t>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124" y="2347912"/>
            <a:ext cx="3016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Generated cleaned_superstore_data.csv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3524250"/>
            <a:ext cx="49806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Inter"/>
              </a:rPr>
              <a:t>Important Note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3895725"/>
            <a:ext cx="4743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"Negative profit values were retained because they represent genuine loss-making transactions."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524250"/>
            <a:ext cx="49806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Inter"/>
              </a:rPr>
              <a:t>Important Note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3895725"/>
            <a:ext cx="4743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"Outliers were retained because extreme values may represent valid business transactions."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5550"/>
            <a:ext cx="11049000" cy="1219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95400"/>
            <a:ext cx="20574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1295400"/>
            <a:ext cx="20574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300" y="1295400"/>
            <a:ext cx="20574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295400"/>
            <a:ext cx="2057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3100" y="1295400"/>
            <a:ext cx="2057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Exploratory Data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0687" y="3905250"/>
            <a:ext cx="8810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1" u="none">
                <a:solidFill>
                  <a:srgbClr val="475569"/>
                </a:solidFill>
                <a:latin typeface="Inter"/>
              </a:rPr>
              <a:t>"Sales and profit show a moderate positive relationship, while higher discounts are generally associated with lower profit."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686050"/>
            <a:ext cx="1096137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Correlation Findings: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1495425"/>
            <a:ext cx="1752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 SemiBold"/>
              </a:rPr>
              <a:t>TOTAL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1733550"/>
            <a:ext cx="17526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JetBrains Mono"/>
              </a:rPr>
              <a:t>2,326,534.35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495425"/>
            <a:ext cx="1752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 SemiBold"/>
              </a:rPr>
              <a:t>TOTAL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733550"/>
            <a:ext cx="17526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JetBrains Mono"/>
              </a:rPr>
              <a:t>292,296.81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9700" y="1495425"/>
            <a:ext cx="1752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 SemiBold"/>
              </a:rPr>
              <a:t>TOTAL QUANTITY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9700" y="1733550"/>
            <a:ext cx="17526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JetBrains Mono"/>
              </a:rPr>
              <a:t>38,654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600" y="1495425"/>
            <a:ext cx="1752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 SemiBold"/>
              </a:rPr>
              <a:t>TOTAL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7600" y="1733550"/>
            <a:ext cx="17526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JetBrains Mono"/>
              </a:rPr>
              <a:t>5,111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0" y="1495425"/>
            <a:ext cx="1752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 SemiBold"/>
              </a:rPr>
              <a:t>TOTAL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0" y="1733550"/>
            <a:ext cx="17526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JetBrains Mono"/>
              </a:rPr>
              <a:t>804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2981325"/>
            <a:ext cx="51482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Sales &amp; Profit: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0.481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6487" y="2981325"/>
            <a:ext cx="51482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Discount &amp; Profit: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-0.219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3324225"/>
            <a:ext cx="51482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Quantity &amp; Profit: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0.066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6487" y="3324225"/>
            <a:ext cx="51482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Sales &amp; Quantity: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0.198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5400"/>
            <a:ext cx="3555950" cy="981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95400"/>
            <a:ext cx="3555950" cy="981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295400"/>
            <a:ext cx="3556099" cy="981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66975"/>
            <a:ext cx="3555950" cy="981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2466975"/>
            <a:ext cx="3555950" cy="981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400" y="2466975"/>
            <a:ext cx="3556099" cy="981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Data Visualizations (Python - Matplotlib &amp; Seaborn)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250" y="3638550"/>
            <a:ext cx="6667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All six visualizations were successfully generated and analyzed to uncover key distribution trends.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543050"/>
            <a:ext cx="32511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350" y="1543050"/>
            <a:ext cx="32511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6800" y="1543050"/>
            <a:ext cx="3251299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714625"/>
            <a:ext cx="32511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0350" y="2714625"/>
            <a:ext cx="32511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6800" y="2714625"/>
            <a:ext cx="3251299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66875"/>
            <a:ext cx="11049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Power BI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295400"/>
            <a:ext cx="11049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KPI Cards: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Total Sales, Total Profit, Total Orders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Visuals: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Sales &amp; Profit by Category/Region/Sub-Category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Slicers: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Region, Category, Segment, Ship Mode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2905125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43312" y="3505200"/>
            <a:ext cx="49053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1E293B"/>
                </a:solidFill>
                <a:latin typeface="Inter SemiBold"/>
              </a:rPr>
              <a:t>[INSERT POWER BI DASHBOARD SCREENSHOT HERE]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6150" y="3867150"/>
            <a:ext cx="5219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Interactive report monitoring major business metrics and performance filters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5400"/>
            <a:ext cx="5334000" cy="3529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95400"/>
            <a:ext cx="5334000" cy="3529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Key Insights &amp;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775" y="1590675"/>
            <a:ext cx="4980622" cy="22860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Inter"/>
              </a:rP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316956"/>
            <a:ext cx="4980622" cy="228600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0B981"/>
                </a:solidFill>
                <a:latin typeface="Inter"/>
              </a:rPr>
              <a:t>Recommendations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609725"/>
            <a:ext cx="1428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2025" y="195976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1962150"/>
            <a:ext cx="455295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Technology generated the highest overall sales and profit among the three categories.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2540793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2543175"/>
            <a:ext cx="455295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Furniture generated significant sales but comparatively lower profit.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12181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3124200"/>
            <a:ext cx="4552950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Tables were identified as a loss-making sub-category.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45995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3462337"/>
            <a:ext cx="455295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Higher discounts were generally associated with lower profit.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04098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275" y="4043362"/>
            <a:ext cx="455295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Copiers were among the stronger sub-categories in terms of profit.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336006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77025" y="2686050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2688431"/>
            <a:ext cx="455295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Review high-discount transactions and optimize the discount strategy to protect profit margins.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3314700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3317081"/>
            <a:ext cx="455295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Investigate loss-making products and sub-categories by reviewing pricing, discounts, costs and sales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83931"/>
            <a:ext cx="11049000" cy="12620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275" y="5031581"/>
            <a:ext cx="11601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850" i="0" u="none">
                <a:solidFill>
                  <a:srgbClr val="1E293B"/>
                </a:solidFill>
                <a:latin typeface="Inter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545931"/>
            <a:ext cx="1104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2563EB"/>
                </a:solidFill>
                <a:latin typeface="Inter SemiBold"/>
              </a:rPr>
              <a:t>G Venkata 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831681"/>
            <a:ext cx="110490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Internova Data Analysis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500" y="1631156"/>
            <a:ext cx="82867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Completed an end-to-end data analytics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500" y="2040731"/>
            <a:ext cx="82867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Performed rigorous data preparation and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5500" y="2450306"/>
            <a:ext cx="82867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Conducted EDA and correlation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5500" y="2859881"/>
            <a:ext cx="82867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Created multiple business visualizations in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5500" y="3269456"/>
            <a:ext cx="82867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Developed an interactive Power BI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5500" y="3679031"/>
            <a:ext cx="82867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Identified important sales and profitability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500" y="4088606"/>
            <a:ext cx="82867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Provided data-driven recommendations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669256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2078831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2488406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2897981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3307556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3717131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4126706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